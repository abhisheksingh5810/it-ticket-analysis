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notesMasterIdLst>
    <p:notesMasterId r:id="rId16"/>
  </p:notesMasterIdLst>
  <p:sldIdLst>
    <p:sldId id="256" r:id="rId2"/>
    <p:sldId id="257" r:id="rId3"/>
    <p:sldId id="258" r:id="rId4"/>
    <p:sldId id="259" r:id="rId5"/>
    <p:sldId id="260" r:id="rId6"/>
    <p:sldId id="264" r:id="rId7"/>
    <p:sldId id="261" r:id="rId8"/>
    <p:sldId id="265" r:id="rId9"/>
    <p:sldId id="262" r:id="rId10"/>
    <p:sldId id="266" r:id="rId11"/>
    <p:sldId id="268" r:id="rId12"/>
    <p:sldId id="263" r:id="rId13"/>
    <p:sldId id="270"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B3F5"/>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FE0DDE-3344-477B-8763-CB5320CB9878}" v="35" dt="2026-04-19T11:28:33.4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2199FDE4FCAA0A46/Documents/IT%20TICKET%20PROJECT%20FINAL%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199FDE4FCAA0A46/Documents/IT%20TICKET%20PROJECT%20FINAL%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avikant%20Singh\OneDrive\Desktop\IT%20TICKET%20PROJECT%20FIN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avikant%20Singh\OneDrive\Desktop\IT%20TICKET%20PROJECT%20FINAL.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b="1" dirty="0">
                <a:solidFill>
                  <a:schemeClr val="tx1"/>
                </a:solidFill>
              </a:rPr>
              <a:t>Volume of Tickets over time</a:t>
            </a:r>
          </a:p>
          <a:p>
            <a:pPr>
              <a:defRPr>
                <a:solidFill>
                  <a:schemeClr val="tx1"/>
                </a:solidFill>
              </a:defRPr>
            </a:pPr>
            <a:endParaRPr lang="en-US" dirty="0">
              <a:solidFill>
                <a:schemeClr val="tx1"/>
              </a:solidFill>
            </a:endParaRPr>
          </a:p>
        </c:rich>
      </c:tx>
      <c:layout>
        <c:manualLayout>
          <c:xMode val="edge"/>
          <c:yMode val="edge"/>
          <c:x val="0.26719312259880557"/>
          <c:y val="4.049700287392474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v>Total</c:v>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5"/>
              <c:pt idx="0">
                <c:v>2016</c:v>
              </c:pt>
              <c:pt idx="1">
                <c:v>2017</c:v>
              </c:pt>
              <c:pt idx="2">
                <c:v>2018</c:v>
              </c:pt>
              <c:pt idx="3">
                <c:v>2019</c:v>
              </c:pt>
              <c:pt idx="4">
                <c:v>2020</c:v>
              </c:pt>
            </c:strLit>
          </c:cat>
          <c:val>
            <c:numLit>
              <c:formatCode>General</c:formatCode>
              <c:ptCount val="5"/>
              <c:pt idx="0">
                <c:v>13051</c:v>
              </c:pt>
              <c:pt idx="1">
                <c:v>14915</c:v>
              </c:pt>
              <c:pt idx="2">
                <c:v>18954</c:v>
              </c:pt>
              <c:pt idx="3">
                <c:v>21490</c:v>
              </c:pt>
              <c:pt idx="4">
                <c:v>29088</c:v>
              </c:pt>
            </c:numLit>
          </c:val>
          <c:smooth val="0"/>
          <c:extLst>
            <c:ext xmlns:c16="http://schemas.microsoft.com/office/drawing/2014/chart" uri="{C3380CC4-5D6E-409C-BE32-E72D297353CC}">
              <c16:uniqueId val="{00000000-E553-460A-A08F-0E2C5B89F8FF}"/>
            </c:ext>
          </c:extLst>
        </c:ser>
        <c:dLbls>
          <c:dLblPos val="t"/>
          <c:showLegendKey val="0"/>
          <c:showVal val="1"/>
          <c:showCatName val="0"/>
          <c:showSerName val="0"/>
          <c:showPercent val="0"/>
          <c:showBubbleSize val="0"/>
        </c:dLbls>
        <c:smooth val="0"/>
        <c:axId val="1646003535"/>
        <c:axId val="1645999215"/>
      </c:lineChart>
      <c:catAx>
        <c:axId val="16460035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645999215"/>
        <c:crosses val="autoZero"/>
        <c:auto val="1"/>
        <c:lblAlgn val="ctr"/>
        <c:lblOffset val="100"/>
        <c:noMultiLvlLbl val="0"/>
      </c:catAx>
      <c:valAx>
        <c:axId val="16459992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16460035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sz="2400" b="1" dirty="0">
                <a:solidFill>
                  <a:schemeClr val="tx1"/>
                </a:solidFill>
              </a:rPr>
              <a:t>Category</a:t>
            </a:r>
            <a:r>
              <a:rPr lang="en-US" sz="2400" b="1" baseline="0" dirty="0">
                <a:solidFill>
                  <a:schemeClr val="tx1"/>
                </a:solidFill>
              </a:rPr>
              <a:t> &amp; Tool Complexity</a:t>
            </a:r>
            <a:endParaRPr lang="en-US" sz="2400" b="1" dirty="0">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199957524960005"/>
          <c:y val="0.12777218706283716"/>
          <c:w val="0.82119991685152793"/>
          <c:h val="0.739191728829655"/>
        </c:manualLayout>
      </c:layout>
      <c:barChart>
        <c:barDir val="col"/>
        <c:grouping val="clustered"/>
        <c:varyColors val="0"/>
        <c:ser>
          <c:idx val="0"/>
          <c:order val="0"/>
          <c:tx>
            <c:v>Total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4"/>
              <c:pt idx="0">
                <c:v>Hardware</c:v>
              </c:pt>
              <c:pt idx="1">
                <c:v>Login Access</c:v>
              </c:pt>
              <c:pt idx="2">
                <c:v>Software</c:v>
              </c:pt>
              <c:pt idx="3">
                <c:v>System</c:v>
              </c:pt>
            </c:strLit>
          </c:cat>
          <c:val>
            <c:numLit>
              <c:formatCode>General</c:formatCode>
              <c:ptCount val="4"/>
              <c:pt idx="0">
                <c:v>7.6253981300729476</c:v>
              </c:pt>
              <c:pt idx="1">
                <c:v>0.31380810468262937</c:v>
              </c:pt>
              <c:pt idx="2">
                <c:v>5.2387327542156363</c:v>
              </c:pt>
              <c:pt idx="3">
                <c:v>6.6156094559253376</c:v>
              </c:pt>
            </c:numLit>
          </c:val>
          <c:extLst>
            <c:ext xmlns:c16="http://schemas.microsoft.com/office/drawing/2014/chart" uri="{C3380CC4-5D6E-409C-BE32-E72D297353CC}">
              <c16:uniqueId val="{00000000-2F2E-4206-A87C-84A12A587D15}"/>
            </c:ext>
          </c:extLst>
        </c:ser>
        <c:dLbls>
          <c:dLblPos val="outEnd"/>
          <c:showLegendKey val="0"/>
          <c:showVal val="1"/>
          <c:showCatName val="0"/>
          <c:showSerName val="0"/>
          <c:showPercent val="0"/>
          <c:showBubbleSize val="0"/>
        </c:dLbls>
        <c:gapWidth val="219"/>
        <c:overlap val="-27"/>
        <c:axId val="343945424"/>
        <c:axId val="343967504"/>
      </c:barChart>
      <c:catAx>
        <c:axId val="343945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43967504"/>
        <c:crosses val="autoZero"/>
        <c:auto val="1"/>
        <c:lblAlgn val="ctr"/>
        <c:lblOffset val="100"/>
        <c:noMultiLvlLbl val="0"/>
      </c:catAx>
      <c:valAx>
        <c:axId val="3439675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solidFill>
                    <a:latin typeface="+mn-lt"/>
                    <a:ea typeface="+mn-ea"/>
                    <a:cs typeface="+mn-cs"/>
                  </a:defRPr>
                </a:pPr>
                <a:r>
                  <a:rPr lang="en-IN" sz="1400" b="1" dirty="0">
                    <a:solidFill>
                      <a:schemeClr val="tx1"/>
                    </a:solidFill>
                  </a:rPr>
                  <a:t>Avg. Resolution</a:t>
                </a:r>
                <a:r>
                  <a:rPr lang="en-IN" sz="1400" b="1" baseline="0" dirty="0">
                    <a:solidFill>
                      <a:schemeClr val="tx1"/>
                    </a:solidFill>
                  </a:rPr>
                  <a:t> Time</a:t>
                </a:r>
                <a:endParaRPr lang="en-IN" sz="1400" b="1" dirty="0">
                  <a:solidFill>
                    <a:schemeClr val="tx1"/>
                  </a:solidFill>
                </a:endParaRPr>
              </a:p>
            </c:rich>
          </c:tx>
          <c:layout>
            <c:manualLayout>
              <c:xMode val="edge"/>
              <c:yMode val="edge"/>
              <c:x val="2.5622700896403283E-2"/>
              <c:y val="0.22717335937364114"/>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439454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a:t>Agent Performance</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ivotFmts>
      <c:pivotFmt>
        <c:idx val="0"/>
        <c:spPr>
          <a:solidFill>
            <a:schemeClr val="accent1"/>
          </a:solidFill>
          <a:ln>
            <a:noFill/>
          </a:ln>
          <a:effectLst/>
          <a:scene3d>
            <a:camera prst="orthographicFront">
              <a:rot lat="0" lon="0" rev="0"/>
            </a:camera>
            <a:lightRig rig="balanced" dir="t">
              <a:rot lat="0" lon="0" rev="1080000"/>
            </a:lightRig>
          </a:scene3d>
          <a:sp3d>
            <a:bevelT w="38100" h="12700" prst="softRound"/>
          </a:sp3d>
        </c:spPr>
        <c:marker>
          <c:symbol val="circle"/>
          <c:size val="6"/>
          <c:spPr>
            <a:solidFill>
              <a:schemeClr val="lt1"/>
            </a:solidFill>
            <a:ln w="15875">
              <a:solidFill>
                <a:schemeClr val="accent1"/>
              </a:solidFill>
              <a:round/>
            </a:ln>
            <a:effectLst/>
            <a:scene3d>
              <a:camera prst="orthographicFront">
                <a:rot lat="0" lon="0" rev="0"/>
              </a:camera>
              <a:lightRig rig="balanced" dir="t">
                <a:rot lat="0" lon="0" rev="1080000"/>
              </a:lightRig>
            </a:scene3d>
            <a:sp3d>
              <a:bevelT w="38100" h="12700" prst="softRound"/>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2225" cap="rnd">
            <a:solidFill>
              <a:schemeClr val="accent1"/>
            </a:solidFill>
            <a:round/>
          </a:ln>
          <a:effectLst/>
          <a:scene3d>
            <a:camera prst="orthographicFront">
              <a:rot lat="0" lon="0" rev="0"/>
            </a:camera>
            <a:lightRig rig="balanced" dir="t">
              <a:rot lat="0" lon="0" rev="1080000"/>
            </a:lightRig>
          </a:scene3d>
          <a:sp3d>
            <a:bevelT w="38100" h="12700" prst="softRound"/>
          </a:sp3d>
        </c:spPr>
        <c:marker>
          <c:symbol val="circle"/>
          <c:size val="6"/>
          <c:spPr>
            <a:solidFill>
              <a:schemeClr val="lt1"/>
            </a:solidFill>
            <a:ln w="15875">
              <a:solidFill>
                <a:schemeClr val="accent2"/>
              </a:solidFill>
              <a:round/>
            </a:ln>
            <a:effectLst/>
            <a:scene3d>
              <a:camera prst="orthographicFront">
                <a:rot lat="0" lon="0" rev="0"/>
              </a:camera>
              <a:lightRig rig="balanced" dir="t">
                <a:rot lat="0" lon="0" rev="1080000"/>
              </a:lightRig>
            </a:scene3d>
            <a:sp3d>
              <a:bevelT w="38100" h="12700" prst="softRound"/>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balanced" dir="t">
              <a:rot lat="0" lon="0" rev="1080000"/>
            </a:lightRig>
          </a:scene3d>
          <a:sp3d>
            <a:bevelT w="38100" h="12700" prst="softRoun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2225" cap="rnd">
            <a:solidFill>
              <a:schemeClr val="accent1"/>
            </a:solidFill>
            <a:round/>
          </a:ln>
          <a:effectLst/>
          <a:scene3d>
            <a:camera prst="orthographicFront">
              <a:rot lat="0" lon="0" rev="0"/>
            </a:camera>
            <a:lightRig rig="balanced" dir="t">
              <a:rot lat="0" lon="0" rev="1080000"/>
            </a:lightRig>
          </a:scene3d>
          <a:sp3d>
            <a:bevelT w="38100" h="12700" prst="softRound"/>
          </a:sp3d>
        </c:spPr>
        <c:marker>
          <c:symbol val="circle"/>
          <c:size val="6"/>
          <c:spPr>
            <a:solidFill>
              <a:schemeClr val="lt1"/>
            </a:solidFill>
            <a:ln w="15875">
              <a:solidFill>
                <a:schemeClr val="accent2"/>
              </a:solidFill>
              <a:round/>
            </a:ln>
            <a:effectLst/>
            <a:scene3d>
              <a:camera prst="orthographicFront">
                <a:rot lat="0" lon="0" rev="0"/>
              </a:camera>
              <a:lightRig rig="balanced" dir="t">
                <a:rot lat="0" lon="0" rev="1080000"/>
              </a:lightRig>
            </a:scene3d>
            <a:sp3d>
              <a:bevelT w="38100" h="12700" prst="softRound"/>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cene3d>
            <a:camera prst="orthographicFront">
              <a:rot lat="0" lon="0" rev="0"/>
            </a:camera>
            <a:lightRig rig="balanced" dir="t">
              <a:rot lat="0" lon="0" rev="1080000"/>
            </a:lightRig>
          </a:scene3d>
          <a:sp3d>
            <a:bevelT w="38100" h="12700" prst="softRoun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98000"/>
                  <a:satMod val="110000"/>
                  <a:lumMod val="104000"/>
                </a:schemeClr>
              </a:gs>
              <a:gs pos="69000">
                <a:schemeClr val="accent1">
                  <a:shade val="88000"/>
                  <a:satMod val="130000"/>
                  <a:lumMod val="92000"/>
                </a:schemeClr>
              </a:gs>
              <a:gs pos="100000">
                <a:schemeClr val="accent1">
                  <a:shade val="78000"/>
                  <a:satMod val="130000"/>
                  <a:lumMod val="92000"/>
                </a:schemeClr>
              </a:gs>
            </a:gsLst>
            <a:lin ang="5400000" scaled="0"/>
          </a:gradFill>
          <a:ln w="22225" cap="rnd">
            <a:solidFill>
              <a:schemeClr val="accent1"/>
            </a:solidFill>
            <a:round/>
          </a:ln>
          <a:effectLst/>
          <a:scene3d>
            <a:camera prst="orthographicFront">
              <a:rot lat="0" lon="0" rev="0"/>
            </a:camera>
            <a:lightRig rig="balanced" dir="t">
              <a:rot lat="0" lon="0" rev="1080000"/>
            </a:lightRig>
          </a:scene3d>
          <a:sp3d>
            <a:bevelT w="38100" h="12700" prst="softRound"/>
          </a:sp3d>
        </c:spPr>
        <c:marker>
          <c:symbol val="circle"/>
          <c:size val="6"/>
          <c:spPr>
            <a:solidFill>
              <a:schemeClr val="lt1"/>
            </a:solidFill>
            <a:ln w="15875">
              <a:solidFill>
                <a:schemeClr val="accent2"/>
              </a:solidFill>
              <a:round/>
            </a:ln>
            <a:effectLst/>
            <a:scene3d>
              <a:camera prst="orthographicFront">
                <a:rot lat="0" lon="0" rev="0"/>
              </a:camera>
              <a:lightRig rig="balanced" dir="t">
                <a:rot lat="0" lon="0" rev="1080000"/>
              </a:lightRig>
            </a:scene3d>
            <a:sp3d>
              <a:bevelT w="38100" h="12700" prst="softRound"/>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5504127201491124E-2"/>
          <c:y val="0.1915582707422944"/>
          <c:w val="0.78142210668836543"/>
          <c:h val="0.58782114425048859"/>
        </c:manualLayout>
      </c:layout>
      <c:barChart>
        <c:barDir val="col"/>
        <c:grouping val="clustered"/>
        <c:varyColors val="0"/>
        <c:ser>
          <c:idx val="0"/>
          <c:order val="0"/>
          <c:tx>
            <c:v>Average of Satisfaction Rate</c:v>
          </c:tx>
          <c:spPr>
            <a:gradFill rotWithShape="1">
              <a:gsLst>
                <a:gs pos="0">
                  <a:schemeClr val="accent1">
                    <a:tint val="98000"/>
                    <a:satMod val="110000"/>
                    <a:lumMod val="104000"/>
                  </a:schemeClr>
                </a:gs>
                <a:gs pos="69000">
                  <a:schemeClr val="accent1">
                    <a:shade val="88000"/>
                    <a:satMod val="130000"/>
                    <a:lumMod val="92000"/>
                  </a:schemeClr>
                </a:gs>
                <a:gs pos="100000">
                  <a:schemeClr val="accent1">
                    <a:shade val="78000"/>
                    <a:satMod val="130000"/>
                    <a:lumMod val="92000"/>
                  </a:schemeClr>
                </a:gs>
              </a:gsLst>
              <a:lin ang="5400000" scaled="0"/>
            </a:gradFill>
            <a:ln>
              <a:noFill/>
            </a:ln>
            <a:effectLst/>
          </c:spPr>
          <c:invertIfNegative val="0"/>
          <c:cat>
            <c:strLit>
              <c:ptCount val="5"/>
              <c:pt idx="0">
                <c:v>29-33</c:v>
              </c:pt>
              <c:pt idx="1">
                <c:v>34-38</c:v>
              </c:pt>
              <c:pt idx="2">
                <c:v>39-43</c:v>
              </c:pt>
              <c:pt idx="3">
                <c:v>44-48</c:v>
              </c:pt>
              <c:pt idx="4">
                <c:v>49-54</c:v>
              </c:pt>
            </c:strLit>
          </c:cat>
          <c:val>
            <c:numLit>
              <c:formatCode>General</c:formatCode>
              <c:ptCount val="5"/>
              <c:pt idx="0">
                <c:v>4.2099816888813182</c:v>
              </c:pt>
              <c:pt idx="1">
                <c:v>3.9888774591744887</c:v>
              </c:pt>
              <c:pt idx="2">
                <c:v>4.1026315789473689</c:v>
              </c:pt>
              <c:pt idx="3">
                <c:v>3.9987648010903825</c:v>
              </c:pt>
              <c:pt idx="4">
                <c:v>4.1983592898801509</c:v>
              </c:pt>
            </c:numLit>
          </c:val>
          <c:extLst>
            <c:ext xmlns:c16="http://schemas.microsoft.com/office/drawing/2014/chart" uri="{C3380CC4-5D6E-409C-BE32-E72D297353CC}">
              <c16:uniqueId val="{00000000-F779-435D-AF9B-0401F8424B0F}"/>
            </c:ext>
          </c:extLst>
        </c:ser>
        <c:dLbls>
          <c:showLegendKey val="0"/>
          <c:showVal val="0"/>
          <c:showCatName val="0"/>
          <c:showSerName val="0"/>
          <c:showPercent val="0"/>
          <c:showBubbleSize val="0"/>
        </c:dLbls>
        <c:gapWidth val="247"/>
        <c:overlap val="-27"/>
        <c:axId val="426478608"/>
        <c:axId val="426479088"/>
      </c:barChart>
      <c:lineChart>
        <c:grouping val="standard"/>
        <c:varyColors val="0"/>
        <c:ser>
          <c:idx val="1"/>
          <c:order val="1"/>
          <c:tx>
            <c:v>Average of Resolution Time (Days)</c:v>
          </c:tx>
          <c:spPr>
            <a:ln w="31750" cap="rnd">
              <a:solidFill>
                <a:schemeClr val="accent2"/>
              </a:solidFill>
              <a:round/>
            </a:ln>
            <a:effectLst/>
          </c:spPr>
          <c:marker>
            <c:symbol val="circle"/>
            <c:size val="6"/>
            <c:spPr>
              <a:gradFill rotWithShape="1">
                <a:gsLst>
                  <a:gs pos="0">
                    <a:schemeClr val="accent2">
                      <a:tint val="98000"/>
                      <a:satMod val="110000"/>
                      <a:lumMod val="104000"/>
                    </a:schemeClr>
                  </a:gs>
                  <a:gs pos="69000">
                    <a:schemeClr val="accent2">
                      <a:shade val="88000"/>
                      <a:satMod val="130000"/>
                      <a:lumMod val="92000"/>
                    </a:schemeClr>
                  </a:gs>
                  <a:gs pos="100000">
                    <a:schemeClr val="accent2">
                      <a:shade val="78000"/>
                      <a:satMod val="130000"/>
                      <a:lumMod val="92000"/>
                    </a:schemeClr>
                  </a:gs>
                </a:gsLst>
                <a:lin ang="5400000" scaled="0"/>
              </a:gradFill>
              <a:ln w="12700">
                <a:solidFill>
                  <a:schemeClr val="lt2"/>
                </a:solidFill>
                <a:round/>
              </a:ln>
              <a:effectLst/>
            </c:spPr>
          </c:marker>
          <c:cat>
            <c:strLit>
              <c:ptCount val="5"/>
              <c:pt idx="0">
                <c:v>29-33</c:v>
              </c:pt>
              <c:pt idx="1">
                <c:v>34-38</c:v>
              </c:pt>
              <c:pt idx="2">
                <c:v>39-43</c:v>
              </c:pt>
              <c:pt idx="3">
                <c:v>44-48</c:v>
              </c:pt>
              <c:pt idx="4">
                <c:v>49-54</c:v>
              </c:pt>
            </c:strLit>
          </c:cat>
          <c:val>
            <c:numLit>
              <c:formatCode>General</c:formatCode>
              <c:ptCount val="5"/>
              <c:pt idx="0">
                <c:v>4.4290763531065025</c:v>
              </c:pt>
              <c:pt idx="1">
                <c:v>4.8400411469718403</c:v>
              </c:pt>
              <c:pt idx="2">
                <c:v>4.4900928792569657</c:v>
              </c:pt>
              <c:pt idx="3">
                <c:v>4.8326518442797513</c:v>
              </c:pt>
              <c:pt idx="4">
                <c:v>4.1116451964365828</c:v>
              </c:pt>
            </c:numLit>
          </c:val>
          <c:smooth val="0"/>
          <c:extLst>
            <c:ext xmlns:c16="http://schemas.microsoft.com/office/drawing/2014/chart" uri="{C3380CC4-5D6E-409C-BE32-E72D297353CC}">
              <c16:uniqueId val="{00000001-F779-435D-AF9B-0401F8424B0F}"/>
            </c:ext>
          </c:extLst>
        </c:ser>
        <c:dLbls>
          <c:showLegendKey val="0"/>
          <c:showVal val="0"/>
          <c:showCatName val="0"/>
          <c:showSerName val="0"/>
          <c:showPercent val="0"/>
          <c:showBubbleSize val="0"/>
        </c:dLbls>
        <c:marker val="1"/>
        <c:smooth val="0"/>
        <c:axId val="423857264"/>
        <c:axId val="426481488"/>
      </c:lineChart>
      <c:catAx>
        <c:axId val="426478608"/>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IN"/>
                  <a:t>AGE GROUP</a:t>
                </a:r>
              </a:p>
              <a:p>
                <a:pPr>
                  <a:defRPr/>
                </a:pPr>
                <a:endParaRPr lang="en-IN"/>
              </a:p>
            </c:rich>
          </c:tx>
          <c:layout>
            <c:manualLayout>
              <c:xMode val="edge"/>
              <c:yMode val="edge"/>
              <c:x val="0.39032462765494164"/>
              <c:y val="0.89664209211991008"/>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crossAx val="426479088"/>
        <c:crosses val="autoZero"/>
        <c:auto val="1"/>
        <c:lblAlgn val="ctr"/>
        <c:lblOffset val="100"/>
        <c:noMultiLvlLbl val="0"/>
      </c:catAx>
      <c:valAx>
        <c:axId val="426479088"/>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IN"/>
                  <a:t>Avg. Resolution Time</a:t>
                </a:r>
              </a:p>
            </c:rich>
          </c:tx>
          <c:layout>
            <c:manualLayout>
              <c:xMode val="edge"/>
              <c:yMode val="edge"/>
              <c:x val="0"/>
              <c:y val="0.25706073279829478"/>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crossAx val="426478608"/>
        <c:crosses val="autoZero"/>
        <c:crossBetween val="between"/>
      </c:valAx>
      <c:valAx>
        <c:axId val="426481488"/>
        <c:scaling>
          <c:orientation val="minMax"/>
        </c:scaling>
        <c:delete val="0"/>
        <c:axPos val="r"/>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IN"/>
                  <a:t>Avg. Satisfaction Rate</a:t>
                </a:r>
              </a:p>
              <a:p>
                <a:pPr>
                  <a:defRPr/>
                </a:pPr>
                <a:endParaRPr lang="en-IN"/>
              </a:p>
            </c:rich>
          </c:tx>
          <c:layout>
            <c:manualLayout>
              <c:xMode val="edge"/>
              <c:yMode val="edge"/>
              <c:x val="0.93966907979731096"/>
              <c:y val="0.28090957250915105"/>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crossAx val="423857264"/>
        <c:crosses val="max"/>
        <c:crossBetween val="between"/>
      </c:valAx>
      <c:catAx>
        <c:axId val="423857264"/>
        <c:scaling>
          <c:orientation val="minMax"/>
        </c:scaling>
        <c:delete val="1"/>
        <c:axPos val="b"/>
        <c:numFmt formatCode="General" sourceLinked="1"/>
        <c:majorTickMark val="none"/>
        <c:minorTickMark val="none"/>
        <c:tickLblPos val="nextTo"/>
        <c:crossAx val="426481488"/>
        <c:crosses val="autoZero"/>
        <c:auto val="1"/>
        <c:lblAlgn val="ctr"/>
        <c:lblOffset val="100"/>
        <c:noMultiLvlLbl val="0"/>
      </c:catAx>
      <c:spPr>
        <a:noFill/>
        <a:ln>
          <a:noFill/>
        </a:ln>
        <a:effectLst/>
      </c:spPr>
    </c:plotArea>
    <c:legend>
      <c:legendPos val="r"/>
      <c:layout>
        <c:manualLayout>
          <c:xMode val="edge"/>
          <c:yMode val="edge"/>
          <c:x val="0.69505792095863206"/>
          <c:y val="0.87077787217728253"/>
          <c:w val="0.30343280777814235"/>
          <c:h val="0.127322648883675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PROJECT FINAL.xlsx]support sheet!SLA</c:name>
    <c:fmtId val="14"/>
  </c:pivotSource>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a:t>SLA Compliance &amp; TOOL Effectiveness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IN"/>
        </a:p>
      </c:txPr>
    </c:title>
    <c:autoTitleDeleted val="0"/>
    <c:pivotFmts>
      <c:pivotFmt>
        <c:idx val="0"/>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pivotFmt>
      <c:pivotFmt>
        <c:idx val="3"/>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pivotFmt>
      <c:pivotFmt>
        <c:idx val="4"/>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pivotFmt>
      <c:pivotFmt>
        <c:idx val="6"/>
        <c:spPr>
          <a:solidFill>
            <a:schemeClr val="accent1"/>
          </a:solidFill>
          <a:ln w="25400">
            <a:solidFill>
              <a:schemeClr val="lt1"/>
            </a:solidFill>
          </a:ln>
          <a:effectLst/>
          <a:scene3d>
            <a:camera prst="orthographicFront">
              <a:rot lat="0" lon="0" rev="0"/>
            </a:camera>
            <a:lightRig rig="balanced" dir="t">
              <a:rot lat="0" lon="0" rev="1080000"/>
            </a:lightRig>
          </a:scene3d>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8.0915820305070565E-2"/>
          <c:y val="0.19009443889474781"/>
          <c:w val="0.73862025942409371"/>
          <c:h val="0.71271507329174832"/>
        </c:manualLayout>
      </c:layout>
      <c:pie3DChart>
        <c:varyColors val="1"/>
        <c:ser>
          <c:idx val="0"/>
          <c:order val="0"/>
          <c:tx>
            <c:strRef>
              <c:f>'support sheet'!$S$4</c:f>
              <c:strCache>
                <c:ptCount val="1"/>
                <c:pt idx="0">
                  <c:v>Total</c:v>
                </c:pt>
              </c:strCache>
            </c:strRef>
          </c:tx>
          <c:dPt>
            <c:idx val="0"/>
            <c:bubble3D val="0"/>
            <c:spPr>
              <a:gradFill rotWithShape="1">
                <a:gsLst>
                  <a:gs pos="0">
                    <a:schemeClr val="accent1">
                      <a:tint val="98000"/>
                      <a:satMod val="110000"/>
                      <a:lumMod val="104000"/>
                    </a:schemeClr>
                  </a:gs>
                  <a:gs pos="69000">
                    <a:schemeClr val="accent1">
                      <a:shade val="88000"/>
                      <a:satMod val="130000"/>
                      <a:lumMod val="92000"/>
                    </a:schemeClr>
                  </a:gs>
                  <a:gs pos="100000">
                    <a:schemeClr val="accent1">
                      <a:shade val="78000"/>
                      <a:satMod val="130000"/>
                      <a:lumMod val="92000"/>
                    </a:schemeClr>
                  </a:gs>
                </a:gsLst>
                <a:lin ang="5400000" scaled="0"/>
              </a:gradFill>
              <a:ln>
                <a:noFill/>
              </a:ln>
              <a:effectLst/>
              <a:sp3d/>
            </c:spPr>
            <c:extLst>
              <c:ext xmlns:c16="http://schemas.microsoft.com/office/drawing/2014/chart" uri="{C3380CC4-5D6E-409C-BE32-E72D297353CC}">
                <c16:uniqueId val="{00000001-2C49-4FDF-8FF9-A02066BF1CB7}"/>
              </c:ext>
            </c:extLst>
          </c:dPt>
          <c:dPt>
            <c:idx val="1"/>
            <c:bubble3D val="0"/>
            <c:spPr>
              <a:gradFill rotWithShape="1">
                <a:gsLst>
                  <a:gs pos="0">
                    <a:schemeClr val="accent2">
                      <a:tint val="98000"/>
                      <a:satMod val="110000"/>
                      <a:lumMod val="104000"/>
                    </a:schemeClr>
                  </a:gs>
                  <a:gs pos="69000">
                    <a:schemeClr val="accent2">
                      <a:shade val="88000"/>
                      <a:satMod val="130000"/>
                      <a:lumMod val="92000"/>
                    </a:schemeClr>
                  </a:gs>
                  <a:gs pos="100000">
                    <a:schemeClr val="accent2">
                      <a:shade val="78000"/>
                      <a:satMod val="130000"/>
                      <a:lumMod val="92000"/>
                    </a:schemeClr>
                  </a:gs>
                </a:gsLst>
                <a:lin ang="5400000" scaled="0"/>
              </a:gradFill>
              <a:ln>
                <a:noFill/>
              </a:ln>
              <a:effectLst/>
              <a:sp3d/>
            </c:spPr>
            <c:extLst>
              <c:ext xmlns:c16="http://schemas.microsoft.com/office/drawing/2014/chart" uri="{C3380CC4-5D6E-409C-BE32-E72D297353CC}">
                <c16:uniqueId val="{00000003-2C49-4FDF-8FF9-A02066BF1CB7}"/>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'support sheet'!$R$5:$R$7</c:f>
              <c:strCache>
                <c:ptCount val="2"/>
                <c:pt idx="0">
                  <c:v>Breached</c:v>
                </c:pt>
                <c:pt idx="1">
                  <c:v>Met</c:v>
                </c:pt>
              </c:strCache>
            </c:strRef>
          </c:cat>
          <c:val>
            <c:numRef>
              <c:f>'support sheet'!$S$5:$S$7</c:f>
              <c:numCache>
                <c:formatCode>0.00%</c:formatCode>
                <c:ptCount val="2"/>
                <c:pt idx="0">
                  <c:v>0.47666618802436972</c:v>
                </c:pt>
                <c:pt idx="1">
                  <c:v>0.52333381197563023</c:v>
                </c:pt>
              </c:numCache>
            </c:numRef>
          </c:val>
          <c:extLst>
            <c:ext xmlns:c16="http://schemas.microsoft.com/office/drawing/2014/chart" uri="{C3380CC4-5D6E-409C-BE32-E72D297353CC}">
              <c16:uniqueId val="{00000004-2C49-4FDF-8FF9-A02066BF1CB7}"/>
            </c:ext>
          </c:extLst>
        </c:ser>
        <c:dLbls>
          <c:dLblPos val="ctr"/>
          <c:showLegendKey val="0"/>
          <c:showVal val="1"/>
          <c:showCatName val="0"/>
          <c:showSerName val="0"/>
          <c:showPercent val="0"/>
          <c:showBubbleSize val="0"/>
          <c:showLeaderLines val="1"/>
        </c:dLbls>
      </c:pie3DChart>
      <c:spPr>
        <a:noFill/>
        <a:ln>
          <a:noFill/>
        </a:ln>
        <a:effectLst/>
      </c:spPr>
    </c:plotArea>
    <c:legend>
      <c:legendPos val="r"/>
      <c:layout>
        <c:manualLayout>
          <c:xMode val="edge"/>
          <c:yMode val="edge"/>
          <c:x val="0.8198134458966938"/>
          <c:y val="0.36527428713220145"/>
          <c:w val="0.15172201300924346"/>
          <c:h val="0.5031617810332561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6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B650B-1172-4A6B-ACE9-9D8E7BA38901}" type="datetimeFigureOut">
              <a:rPr lang="en-IN" smtClean="0"/>
              <a:t>20-06-2026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A1B31-1784-40B2-B705-946F2184FE74}" type="slidenum">
              <a:rPr lang="en-IN" smtClean="0"/>
              <a:t>‹#›</a:t>
            </a:fld>
            <a:endParaRPr lang="en-IN"/>
          </a:p>
        </p:txBody>
      </p:sp>
    </p:spTree>
    <p:extLst>
      <p:ext uri="{BB962C8B-B14F-4D97-AF65-F5344CB8AC3E}">
        <p14:creationId xmlns:p14="http://schemas.microsoft.com/office/powerpoint/2010/main" val="3270222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2300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3756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291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8696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5875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399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665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3947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6/20/2026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471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0518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0640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6/20/2026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8643406"/>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14146" y="1514275"/>
            <a:ext cx="6693254" cy="1776187"/>
          </a:xfrm>
        </p:spPr>
        <p:txBody>
          <a:bodyPr>
            <a:normAutofit fontScale="90000"/>
          </a:bodyPr>
          <a:lstStyle/>
          <a:p>
            <a:pPr algn="ctr"/>
            <a:br>
              <a:rPr lang="en-IN" dirty="0"/>
            </a:br>
            <a:br>
              <a:rPr lang="en-IN" dirty="0"/>
            </a:br>
            <a:br>
              <a:rPr lang="en-IN" dirty="0"/>
            </a:br>
            <a:br>
              <a:rPr lang="en-IN" dirty="0"/>
            </a:br>
            <a:br>
              <a:rPr lang="en-IN" dirty="0"/>
            </a:br>
            <a:r>
              <a:rPr lang="en-IN" dirty="0"/>
              <a:t> </a:t>
            </a:r>
            <a:r>
              <a:rPr dirty="0"/>
              <a:t>IT Support Ticket Performance Analysis</a:t>
            </a:r>
          </a:p>
        </p:txBody>
      </p:sp>
      <p:sp>
        <p:nvSpPr>
          <p:cNvPr id="3" name="Subtitle 2"/>
          <p:cNvSpPr>
            <a:spLocks noGrp="1"/>
          </p:cNvSpPr>
          <p:nvPr>
            <p:ph type="subTitle" idx="1"/>
          </p:nvPr>
        </p:nvSpPr>
        <p:spPr>
          <a:xfrm>
            <a:off x="164747" y="4417230"/>
            <a:ext cx="5618515" cy="1504599"/>
          </a:xfrm>
        </p:spPr>
        <p:txBody>
          <a:bodyPr>
            <a:noAutofit/>
          </a:bodyPr>
          <a:lstStyle/>
          <a:p>
            <a:r>
              <a:rPr sz="1400" b="1" dirty="0">
                <a:latin typeface="Aptos" panose="020B0004020202020204" pitchFamily="34" charset="0"/>
              </a:rPr>
              <a:t>Data-Driven Insights &amp; Operational Recommendations</a:t>
            </a:r>
          </a:p>
          <a:p>
            <a:r>
              <a:rPr sz="1400" b="1" dirty="0">
                <a:latin typeface="Aptos" panose="020B0004020202020204" pitchFamily="34" charset="0"/>
              </a:rPr>
              <a:t>Presented by:</a:t>
            </a:r>
            <a:r>
              <a:rPr lang="en-IN" sz="1400" b="1" dirty="0">
                <a:latin typeface="Aptos" panose="020B0004020202020204" pitchFamily="34" charset="0"/>
              </a:rPr>
              <a:t> </a:t>
            </a:r>
            <a:r>
              <a:rPr sz="1400" b="1" dirty="0">
                <a:latin typeface="Aptos" panose="020B0004020202020204" pitchFamily="34" charset="0"/>
              </a:rPr>
              <a:t> </a:t>
            </a:r>
            <a:r>
              <a:rPr lang="en-IN" sz="1400" b="1" dirty="0">
                <a:latin typeface="Aptos" panose="020B0004020202020204" pitchFamily="34" charset="0"/>
              </a:rPr>
              <a:t>ABHISHEK KUMAR SINGH</a:t>
            </a:r>
            <a:endParaRPr sz="1400" b="1" dirty="0">
              <a:latin typeface="Aptos" panose="020B0004020202020204" pitchFamily="34" charset="0"/>
            </a:endParaRPr>
          </a:p>
          <a:p>
            <a:r>
              <a:rPr sz="1400" b="1" dirty="0">
                <a:latin typeface="Aptos" panose="020B0004020202020204" pitchFamily="34" charset="0"/>
              </a:rPr>
              <a:t>Date: </a:t>
            </a:r>
            <a:r>
              <a:rPr lang="en-IN" sz="1400" b="1" dirty="0">
                <a:latin typeface="Aptos" panose="020B0004020202020204" pitchFamily="34" charset="0"/>
              </a:rPr>
              <a:t>29/03/2026</a:t>
            </a:r>
            <a:endParaRPr sz="1400" b="1" dirty="0">
              <a:latin typeface="Aptos" panose="020B0004020202020204" pitchFamily="34" charset="0"/>
            </a:endParaRPr>
          </a:p>
        </p:txBody>
      </p:sp>
      <p:sp>
        <p:nvSpPr>
          <p:cNvPr id="6" name="AutoShape 2">
            <a:extLst>
              <a:ext uri="{FF2B5EF4-FFF2-40B4-BE49-F238E27FC236}">
                <a16:creationId xmlns:a16="http://schemas.microsoft.com/office/drawing/2014/main" id="{15A22867-9172-D2A6-B53F-D814104C00F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BC954069-AFA7-A50F-3D96-2BECE269068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1735667" y="752161"/>
            <a:ext cx="5977467" cy="38537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7728" y="1271525"/>
            <a:ext cx="6571343" cy="1049235"/>
          </a:xfrm>
        </p:spPr>
        <p:txBody>
          <a:bodyPr/>
          <a:lstStyle/>
          <a:p>
            <a:pPr algn="ctr"/>
            <a:r>
              <a:rPr dirty="0"/>
              <a:t>Introduction and Objectives</a:t>
            </a:r>
          </a:p>
        </p:txBody>
      </p:sp>
      <p:sp>
        <p:nvSpPr>
          <p:cNvPr id="3" name="Content Placeholder 2"/>
          <p:cNvSpPr>
            <a:spLocks noGrp="1"/>
          </p:cNvSpPr>
          <p:nvPr>
            <p:ph idx="1"/>
          </p:nvPr>
        </p:nvSpPr>
        <p:spPr>
          <a:xfrm>
            <a:off x="370114" y="1807029"/>
            <a:ext cx="8229600" cy="4525963"/>
          </a:xfrm>
        </p:spPr>
        <p:txBody>
          <a:bodyPr wrap="square">
            <a:normAutofit/>
          </a:bodyPr>
          <a:lstStyle/>
          <a:p>
            <a:endParaRPr dirty="0"/>
          </a:p>
          <a:p>
            <a:r>
              <a:rPr dirty="0"/>
              <a:t>Context: Analysis of 97,498 IT support tickets spanning from 2016 to 2020.</a:t>
            </a:r>
          </a:p>
          <a:p>
            <a:r>
              <a:rPr dirty="0"/>
              <a:t>Goal: Evaluate team efficiency, identify category-specific bottlenecks, and optimize resource allocation.</a:t>
            </a:r>
          </a:p>
          <a:p>
            <a:r>
              <a:rPr dirty="0"/>
              <a:t>Objectives:</a:t>
            </a:r>
          </a:p>
          <a:p>
            <a:pPr lvl="1"/>
            <a:r>
              <a:rPr dirty="0"/>
              <a:t>Analyze ticket volume growth and seasonal trends.</a:t>
            </a:r>
          </a:p>
          <a:p>
            <a:pPr lvl="1"/>
            <a:r>
              <a:rPr dirty="0"/>
              <a:t> Measure Resolution Time (MTTR) across different categories.</a:t>
            </a:r>
          </a:p>
          <a:p>
            <a:pPr lvl="1"/>
            <a:r>
              <a:rPr dirty="0"/>
              <a:t> Assess Agent performance based on age demographics and satisfaction.</a:t>
            </a:r>
          </a:p>
          <a:p>
            <a:pPr lvl="1"/>
            <a:r>
              <a:rPr dirty="0"/>
              <a:t> Provide data-backed investment strategies for 2021.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1237" y="1192050"/>
            <a:ext cx="6571343" cy="1049235"/>
          </a:xfrm>
        </p:spPr>
        <p:txBody>
          <a:bodyPr/>
          <a:lstStyle/>
          <a:p>
            <a:r>
              <a:rPr lang="en-IN" dirty="0"/>
              <a:t> </a:t>
            </a:r>
            <a:r>
              <a:rPr dirty="0"/>
              <a:t>Data Overview</a:t>
            </a:r>
          </a:p>
        </p:txBody>
      </p:sp>
      <p:sp>
        <p:nvSpPr>
          <p:cNvPr id="3" name="Content Placeholder 2"/>
          <p:cNvSpPr>
            <a:spLocks noGrp="1"/>
          </p:cNvSpPr>
          <p:nvPr>
            <p:ph idx="1"/>
          </p:nvPr>
        </p:nvSpPr>
        <p:spPr>
          <a:xfrm>
            <a:off x="1286328" y="1543710"/>
            <a:ext cx="6571343" cy="4474029"/>
          </a:xfrm>
        </p:spPr>
        <p:txBody>
          <a:bodyPr wrap="square">
            <a:noAutofit/>
          </a:bodyPr>
          <a:lstStyle/>
          <a:p>
            <a:endParaRPr sz="1400" dirty="0">
              <a:latin typeface="Aptos" panose="020B0004020202020204" pitchFamily="34" charset="0"/>
            </a:endParaRPr>
          </a:p>
          <a:p>
            <a:r>
              <a:rPr sz="1600" dirty="0">
                <a:latin typeface="Aptos" panose="020B0004020202020204" pitchFamily="34" charset="0"/>
              </a:rPr>
              <a:t>Dataset Summary: 97,498 records with 16 key attributes including Severity, Priority, and Satisfaction.</a:t>
            </a:r>
          </a:p>
          <a:p>
            <a:r>
              <a:rPr sz="1600" dirty="0">
                <a:latin typeface="Aptos" panose="020B0004020202020204" pitchFamily="34" charset="0"/>
              </a:rPr>
              <a:t>Key Attributes:</a:t>
            </a:r>
          </a:p>
          <a:p>
            <a:pPr lvl="1"/>
            <a:r>
              <a:rPr dirty="0">
                <a:latin typeface="Aptos" panose="020B0004020202020204" pitchFamily="34" charset="0"/>
              </a:rPr>
              <a:t>   Ticket ID, Category (Hardware, Software, System, Login), and Issue Type.</a:t>
            </a:r>
          </a:p>
          <a:p>
            <a:pPr lvl="1"/>
            <a:r>
              <a:rPr dirty="0">
                <a:latin typeface="Aptos" panose="020B0004020202020204" pitchFamily="34" charset="0"/>
              </a:rPr>
              <a:t>   Agent Metrics: Agent ID, Name, Age, and Performance Ratio.</a:t>
            </a:r>
          </a:p>
          <a:p>
            <a:pPr lvl="1"/>
            <a:r>
              <a:rPr dirty="0">
                <a:latin typeface="Aptos" panose="020B0004020202020204" pitchFamily="34" charset="0"/>
              </a:rPr>
              <a:t>   Service Metrics: Resolution Time (Days), SLA Status (Met/Breached).</a:t>
            </a:r>
          </a:p>
          <a:p>
            <a:r>
              <a:rPr sz="1600" dirty="0">
                <a:latin typeface="Aptos" panose="020B0004020202020204" pitchFamily="34" charset="0"/>
              </a:rPr>
              <a:t>Data Cleaning:</a:t>
            </a:r>
          </a:p>
          <a:p>
            <a:pPr lvl="1"/>
            <a:r>
              <a:rPr dirty="0">
                <a:latin typeface="Aptos" panose="020B0004020202020204" pitchFamily="34" charset="0"/>
              </a:rPr>
              <a:t>  Handled unclassified severity levels.</a:t>
            </a:r>
          </a:p>
          <a:p>
            <a:pPr lvl="1"/>
            <a:r>
              <a:rPr dirty="0">
                <a:latin typeface="Aptos" panose="020B0004020202020204" pitchFamily="34" charset="0"/>
              </a:rPr>
              <a:t>   Calculated 'Performance Ratio' (Satisfaction / Resolution Time) to normalize quality vs. speed.</a:t>
            </a:r>
          </a:p>
        </p:txBody>
      </p:sp>
      <p:pic>
        <p:nvPicPr>
          <p:cNvPr id="5124" name="Picture 4" descr="Dashboard colored outline icon. icon ...">
            <a:extLst>
              <a:ext uri="{FF2B5EF4-FFF2-40B4-BE49-F238E27FC236}">
                <a16:creationId xmlns:a16="http://schemas.microsoft.com/office/drawing/2014/main" id="{C62291A8-B5BC-43FE-F260-DA7E91453E7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21455" y1="18579" x2="59273" y2="19672"/>
                        <a14:foregroundMark x1="59273" y1="19672" x2="80000" y2="43716"/>
                        <a14:foregroundMark x1="80000" y1="43716" x2="70545" y2="81967"/>
                        <a14:foregroundMark x1="70545" y1="81967" x2="34545" y2="83607"/>
                        <a14:foregroundMark x1="34545" y1="83607" x2="19780" y2="55871"/>
                        <a14:foregroundMark x1="23092" y1="56097" x2="25455" y2="74863"/>
                        <a14:foregroundMark x1="25286" y1="56247" x2="28000" y2="77596"/>
                        <a14:foregroundMark x1="28000" y1="77596" x2="69091" y2="35519"/>
                        <a14:foregroundMark x1="69091" y1="35519" x2="74909" y2="21311"/>
                        <a14:foregroundMark x1="56727" y1="21311" x2="61818" y2="21311"/>
                        <a14:foregroundMark x1="27636" y1="77596" x2="27636" y2="77596"/>
                        <a14:foregroundMark x1="27636" y1="77596" x2="28727" y2="78142"/>
                        <a14:backgroundMark x1="79292" y1="25547" x2="80000" y2="25683"/>
                        <a14:backgroundMark x1="83184" y1="70868" x2="83273" y2="72131"/>
                        <a14:backgroundMark x1="81159" y1="42126" x2="81321" y2="44422"/>
                        <a14:backgroundMark x1="80000" y1="25683" x2="80053" y2="26429"/>
                        <a14:backgroundMark x1="83273" y1="72131" x2="82829" y2="72306"/>
                        <a14:backgroundMark x1="17224" y1="28443" x2="17091" y2="24044"/>
                        <a14:backgroundMark x1="62669" y1="70403" x2="64138" y2="67856"/>
                        <a14:backgroundMark x1="18909" y1="19672" x2="17818" y2="55738"/>
                        <a14:backgroundMark x1="17818" y1="55738" x2="17818" y2="55738"/>
                      </a14:backgroundRemoval>
                    </a14:imgEffect>
                  </a14:imgLayer>
                </a14:imgProps>
              </a:ext>
              <a:ext uri="{28A0092B-C50C-407E-A947-70E740481C1C}">
                <a14:useLocalDpi xmlns:a14="http://schemas.microsoft.com/office/drawing/2010/main" val="0"/>
              </a:ext>
            </a:extLst>
          </a:blip>
          <a:srcRect/>
          <a:stretch>
            <a:fillRect/>
          </a:stretch>
        </p:blipFill>
        <p:spPr bwMode="auto">
          <a:xfrm>
            <a:off x="6862763" y="418866"/>
            <a:ext cx="2024289" cy="1394052"/>
          </a:xfrm>
          <a:prstGeom prst="rect">
            <a:avLst/>
          </a:prstGeom>
          <a:noFill/>
          <a:effectLst>
            <a:glow rad="139700">
              <a:schemeClr val="bg1">
                <a:alpha val="40000"/>
              </a:schemeClr>
            </a:glow>
            <a:outerShdw blurRad="50800" dist="38100" dir="10800000" algn="r" rotWithShape="0">
              <a:srgbClr val="0070C0">
                <a:alpha val="4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5579" y="1329137"/>
            <a:ext cx="6571343" cy="1049235"/>
          </a:xfrm>
        </p:spPr>
        <p:txBody>
          <a:bodyPr/>
          <a:lstStyle/>
          <a:p>
            <a:r>
              <a:rPr dirty="0"/>
              <a:t>Methodology</a:t>
            </a:r>
          </a:p>
        </p:txBody>
      </p:sp>
      <p:sp>
        <p:nvSpPr>
          <p:cNvPr id="3" name="Content Placeholder 2"/>
          <p:cNvSpPr>
            <a:spLocks noGrp="1"/>
          </p:cNvSpPr>
          <p:nvPr>
            <p:ph idx="1"/>
          </p:nvPr>
        </p:nvSpPr>
        <p:spPr>
          <a:xfrm>
            <a:off x="19276" y="1939533"/>
            <a:ext cx="6571343" cy="3450613"/>
          </a:xfrm>
        </p:spPr>
        <p:txBody>
          <a:bodyPr wrap="square">
            <a:normAutofit fontScale="92500" lnSpcReduction="10000"/>
          </a:bodyPr>
          <a:lstStyle/>
          <a:p>
            <a:endParaRPr dirty="0"/>
          </a:p>
          <a:p>
            <a:r>
              <a:rPr sz="1700" dirty="0"/>
              <a:t>Analytical Tools: Excel Pivot Tables, Power Query for cleaning, and Python for advanced trend modeling.</a:t>
            </a:r>
          </a:p>
          <a:p>
            <a:r>
              <a:rPr sz="1700" dirty="0"/>
              <a:t>Methods Used:</a:t>
            </a:r>
            <a:endParaRPr lang="en-IN" sz="1700" dirty="0"/>
          </a:p>
          <a:p>
            <a:r>
              <a:rPr sz="1700" dirty="0"/>
              <a:t>Statistical Analysis: Calculating Mean Resolution Times and Satisfaction benchmarks</a:t>
            </a:r>
            <a:endParaRPr lang="en-IN" sz="1700" dirty="0"/>
          </a:p>
          <a:p>
            <a:r>
              <a:rPr sz="1700" dirty="0"/>
              <a:t> Trend Analysis: Mapping ticket volume growth over a 5-year horizon.</a:t>
            </a:r>
            <a:endParaRPr lang="en-IN" sz="1700" dirty="0"/>
          </a:p>
          <a:p>
            <a:r>
              <a:rPr sz="1700" dirty="0"/>
              <a:t>Cross-Tabulation: Correlating Agent Age with Service Quality.</a:t>
            </a:r>
            <a:endParaRPr lang="en-IN" sz="1700" dirty="0"/>
          </a:p>
          <a:p>
            <a:r>
              <a:rPr sz="1700" dirty="0"/>
              <a:t> Visualization: Combo charts to compare Volume vs. Satisfaction Rates</a:t>
            </a:r>
            <a:r>
              <a:rPr dirty="0"/>
              <a:t>.</a:t>
            </a:r>
          </a:p>
        </p:txBody>
      </p:sp>
      <p:pic>
        <p:nvPicPr>
          <p:cNvPr id="5" name="Picture 4">
            <a:extLst>
              <a:ext uri="{FF2B5EF4-FFF2-40B4-BE49-F238E27FC236}">
                <a16:creationId xmlns:a16="http://schemas.microsoft.com/office/drawing/2014/main" id="{80FB1511-788B-04FE-5335-1FB4DE2B5E6D}"/>
              </a:ext>
            </a:extLst>
          </p:cNvPr>
          <p:cNvPicPr>
            <a:picLocks noChangeAspect="1"/>
          </p:cNvPicPr>
          <p:nvPr/>
        </p:nvPicPr>
        <p:blipFill>
          <a:blip r:embed="rId2"/>
          <a:stretch>
            <a:fillRect/>
          </a:stretch>
        </p:blipFill>
        <p:spPr>
          <a:xfrm>
            <a:off x="6764964" y="2378371"/>
            <a:ext cx="2101958" cy="2101257"/>
          </a:xfrm>
          <a:prstGeom prst="rect">
            <a:avLst/>
          </a:prstGeom>
          <a:solidFill>
            <a:schemeClr val="bg2">
              <a:alpha val="34000"/>
            </a:schemeClr>
          </a:solidFill>
          <a:effectLst>
            <a:outerShdw blurRad="50800" dist="50800" dir="5400000" algn="ctr" rotWithShape="0">
              <a:srgbClr val="000000">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129" y="867036"/>
            <a:ext cx="6571343" cy="1049235"/>
          </a:xfrm>
        </p:spPr>
        <p:txBody>
          <a:bodyPr/>
          <a:lstStyle/>
          <a:p>
            <a:r>
              <a:rPr dirty="0"/>
              <a:t>Ticket Volume &amp; Growth Trends</a:t>
            </a:r>
          </a:p>
        </p:txBody>
      </p:sp>
      <p:sp>
        <p:nvSpPr>
          <p:cNvPr id="3" name="Content Placeholder 2"/>
          <p:cNvSpPr>
            <a:spLocks noGrp="1"/>
          </p:cNvSpPr>
          <p:nvPr>
            <p:ph idx="1"/>
          </p:nvPr>
        </p:nvSpPr>
        <p:spPr/>
        <p:txBody>
          <a:bodyPr wrap="square">
            <a:normAutofit fontScale="85000" lnSpcReduction="10000"/>
          </a:bodyPr>
          <a:lstStyle/>
          <a:p>
            <a:endParaRPr dirty="0"/>
          </a:p>
          <a:p>
            <a:r>
              <a:rPr dirty="0"/>
              <a:t>Growth: Total volume increased by 123% from 2016 (13k) to 2020 (29k).</a:t>
            </a:r>
          </a:p>
          <a:p>
            <a:r>
              <a:rPr dirty="0"/>
              <a:t>Daily Demand: The team manages an average of 53.4 tickets per day.</a:t>
            </a:r>
          </a:p>
          <a:p>
            <a:r>
              <a:rPr dirty="0"/>
              <a:t>Peak Times: October and December are consistently high-pressure months.</a:t>
            </a:r>
          </a:p>
          <a:p>
            <a:r>
              <a:rPr dirty="0"/>
              <a:t>Stability: May through July show the most stable operational volume.</a:t>
            </a:r>
          </a:p>
          <a:p>
            <a:r>
              <a:rPr dirty="0"/>
              <a:t>Theory: Queuing Theory suggests that without staff scaling, peak-month latency will lead to SLA breaches.</a:t>
            </a:r>
          </a:p>
        </p:txBody>
      </p:sp>
      <p:pic>
        <p:nvPicPr>
          <p:cNvPr id="6146" name="Picture 2" descr="Volume - Free business and finance icons">
            <a:extLst>
              <a:ext uri="{FF2B5EF4-FFF2-40B4-BE49-F238E27FC236}">
                <a16:creationId xmlns:a16="http://schemas.microsoft.com/office/drawing/2014/main" id="{57E7802E-2451-3EC4-410D-D11C81DD6B0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10420" y="388884"/>
            <a:ext cx="1858593" cy="1396373"/>
          </a:xfrm>
          <a:prstGeom prst="rect">
            <a:avLst/>
          </a:prstGeom>
          <a:noFill/>
          <a:effectLst>
            <a:glow rad="63500">
              <a:schemeClr val="accent5">
                <a:satMod val="175000"/>
                <a:alpha val="40000"/>
              </a:schemeClr>
            </a:glow>
          </a:effectLst>
          <a:scene3d>
            <a:camera prst="orthographicFront"/>
            <a:lightRig rig="threePt" dir="t"/>
          </a:scene3d>
          <a:sp3d>
            <a:bevelT w="101600" prst="riblet"/>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520EB-AAE6-3098-2429-95FB4A89378D}"/>
              </a:ext>
            </a:extLst>
          </p:cNvPr>
          <p:cNvSpPr>
            <a:spLocks noGrp="1"/>
          </p:cNvSpPr>
          <p:nvPr>
            <p:ph type="title"/>
          </p:nvPr>
        </p:nvSpPr>
        <p:spPr>
          <a:xfrm>
            <a:off x="707571" y="772887"/>
            <a:ext cx="7307263" cy="1273628"/>
          </a:xfrm>
        </p:spPr>
        <p:txBody>
          <a:bodyPr>
            <a:normAutofit/>
          </a:bodyPr>
          <a:lstStyle/>
          <a:p>
            <a:r>
              <a:rPr lang="en-IN" sz="1200" b="1" dirty="0">
                <a:latin typeface="Aptos" panose="020B0004020202020204" pitchFamily="34" charset="0"/>
              </a:rPr>
              <a:t>As seen in the line chart, we are facing a 'Scaling Challenge.' Ticket volume has more than doubled since 2016.</a:t>
            </a:r>
            <a:br>
              <a:rPr lang="en-IN" sz="1200" b="1" dirty="0">
                <a:latin typeface="Aptos" panose="020B0004020202020204" pitchFamily="34" charset="0"/>
              </a:rPr>
            </a:br>
            <a:r>
              <a:rPr lang="en-IN" sz="1200" b="1" dirty="0">
                <a:latin typeface="Aptos" panose="020B0004020202020204" pitchFamily="34" charset="0"/>
              </a:rPr>
              <a:t> Theoretically, this is known as Demand Volatility. The spikes in October and December suggest that our current fixed headcount is being overwhelmed during peak seasons, leading to a backlog that carries over into the new year."</a:t>
            </a:r>
          </a:p>
        </p:txBody>
      </p:sp>
      <p:graphicFrame>
        <p:nvGraphicFramePr>
          <p:cNvPr id="12" name="Content Placeholder 11">
            <a:extLst>
              <a:ext uri="{FF2B5EF4-FFF2-40B4-BE49-F238E27FC236}">
                <a16:creationId xmlns:a16="http://schemas.microsoft.com/office/drawing/2014/main" id="{BBC1AA00-7283-A5F1-4DE1-678D0750D57C}"/>
              </a:ext>
            </a:extLst>
          </p:cNvPr>
          <p:cNvGraphicFramePr>
            <a:graphicFrameLocks noGrp="1"/>
          </p:cNvGraphicFramePr>
          <p:nvPr>
            <p:ph idx="1"/>
            <p:extLst>
              <p:ext uri="{D42A27DB-BD31-4B8C-83A1-F6EECF244321}">
                <p14:modId xmlns:p14="http://schemas.microsoft.com/office/powerpoint/2010/main" val="1869967874"/>
              </p:ext>
            </p:extLst>
          </p:nvPr>
        </p:nvGraphicFramePr>
        <p:xfrm>
          <a:off x="1443038" y="2016125"/>
          <a:ext cx="6572250" cy="34496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439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Category &amp; Complexity Analysis</a:t>
            </a:r>
          </a:p>
        </p:txBody>
      </p:sp>
      <p:sp>
        <p:nvSpPr>
          <p:cNvPr id="3" name="Content Placeholder 2"/>
          <p:cNvSpPr>
            <a:spLocks noGrp="1"/>
          </p:cNvSpPr>
          <p:nvPr>
            <p:ph idx="1"/>
          </p:nvPr>
        </p:nvSpPr>
        <p:spPr/>
        <p:txBody>
          <a:bodyPr wrap="square">
            <a:normAutofit fontScale="85000" lnSpcReduction="10000"/>
          </a:bodyPr>
          <a:lstStyle/>
          <a:p>
            <a:endParaRPr dirty="0"/>
          </a:p>
          <a:p>
            <a:r>
              <a:rPr dirty="0"/>
              <a:t>Volume Distribution:</a:t>
            </a:r>
            <a:endParaRPr lang="en-IN" dirty="0"/>
          </a:p>
          <a:p>
            <a:r>
              <a:rPr dirty="0"/>
              <a:t>System (39,002) &amp; Login Access (29,193) drive 70% of total volume.</a:t>
            </a:r>
          </a:p>
          <a:p>
            <a:r>
              <a:rPr dirty="0"/>
              <a:t>Resolution Time (MTTR) Gap:</a:t>
            </a:r>
            <a:endParaRPr lang="en-IN" dirty="0"/>
          </a:p>
          <a:p>
            <a:r>
              <a:rPr dirty="0"/>
              <a:t>Hardware: 7.63 Days (Highest complexity).</a:t>
            </a:r>
            <a:endParaRPr lang="en-IN" dirty="0"/>
          </a:p>
          <a:p>
            <a:r>
              <a:rPr dirty="0"/>
              <a:t> Login Access: 0.31 Days (Highly efficient administrative tasks).</a:t>
            </a:r>
          </a:p>
          <a:p>
            <a:r>
              <a:rPr dirty="0"/>
              <a:t>Insight: Hardware issues take 25x longer than Login resets, requiring specialized resource allocation.</a:t>
            </a:r>
          </a:p>
        </p:txBody>
      </p:sp>
      <p:pic>
        <p:nvPicPr>
          <p:cNvPr id="3076" name="Picture 4" descr="Data complexity Icons in PNG &amp; SVG">
            <a:extLst>
              <a:ext uri="{FF2B5EF4-FFF2-40B4-BE49-F238E27FC236}">
                <a16:creationId xmlns:a16="http://schemas.microsoft.com/office/drawing/2014/main" id="{FC3587AE-1F7D-5845-FF54-E3F1F1E88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4705" y="431800"/>
            <a:ext cx="1342495" cy="13424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6057-61B9-649E-2DB7-FED6AB60114B}"/>
              </a:ext>
            </a:extLst>
          </p:cNvPr>
          <p:cNvSpPr>
            <a:spLocks noGrp="1"/>
          </p:cNvSpPr>
          <p:nvPr>
            <p:ph type="title"/>
          </p:nvPr>
        </p:nvSpPr>
        <p:spPr>
          <a:xfrm>
            <a:off x="1204006" y="435430"/>
            <a:ext cx="6571343" cy="1418326"/>
          </a:xfrm>
        </p:spPr>
        <p:txBody>
          <a:bodyPr>
            <a:normAutofit/>
          </a:bodyPr>
          <a:lstStyle/>
          <a:p>
            <a:pPr marL="171450" indent="-171450">
              <a:buFont typeface="Arial" panose="020B0604020202020204" pitchFamily="34" charset="0"/>
              <a:buChar char="•"/>
            </a:pPr>
            <a:r>
              <a:rPr lang="en-IN" sz="1200" b="1" dirty="0">
                <a:latin typeface="Aptos" panose="020B0004020202020204" pitchFamily="34" charset="0"/>
              </a:rPr>
              <a:t>This bar chart reveals a massive 'Complexity Gap.' While Login Access tickets are resolved in less than half a day, Hardware and System issues take 6 to 7 days. This is an application of the Pareto Principle: 70% of our volume comes from System and Login issues. By automating the simple Login resets, we can redirect our expert man-hours toward the high-complexity Hardware tasks."</a:t>
            </a:r>
          </a:p>
        </p:txBody>
      </p:sp>
      <p:graphicFrame>
        <p:nvGraphicFramePr>
          <p:cNvPr id="10" name="Content Placeholder 9">
            <a:extLst>
              <a:ext uri="{FF2B5EF4-FFF2-40B4-BE49-F238E27FC236}">
                <a16:creationId xmlns:a16="http://schemas.microsoft.com/office/drawing/2014/main" id="{4F833C3E-F900-39C8-A4EA-6A66506B58DF}"/>
              </a:ext>
            </a:extLst>
          </p:cNvPr>
          <p:cNvGraphicFramePr>
            <a:graphicFrameLocks noGrp="1"/>
          </p:cNvGraphicFramePr>
          <p:nvPr>
            <p:ph idx="1"/>
            <p:extLst>
              <p:ext uri="{D42A27DB-BD31-4B8C-83A1-F6EECF244321}">
                <p14:modId xmlns:p14="http://schemas.microsoft.com/office/powerpoint/2010/main" val="773348692"/>
              </p:ext>
            </p:extLst>
          </p:nvPr>
        </p:nvGraphicFramePr>
        <p:xfrm>
          <a:off x="465107" y="1963554"/>
          <a:ext cx="8447314" cy="40671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92806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 Performance &amp; Demographics</a:t>
            </a:r>
          </a:p>
        </p:txBody>
      </p:sp>
      <p:sp>
        <p:nvSpPr>
          <p:cNvPr id="3" name="Content Placeholder 2"/>
          <p:cNvSpPr>
            <a:spLocks noGrp="1"/>
          </p:cNvSpPr>
          <p:nvPr>
            <p:ph idx="1"/>
          </p:nvPr>
        </p:nvSpPr>
        <p:spPr>
          <a:xfrm>
            <a:off x="328612" y="1703693"/>
            <a:ext cx="6571343" cy="3450613"/>
          </a:xfrm>
        </p:spPr>
        <p:txBody>
          <a:bodyPr wrap="square">
            <a:normAutofit fontScale="77500" lnSpcReduction="20000"/>
          </a:bodyPr>
          <a:lstStyle/>
          <a:p>
            <a:endParaRPr dirty="0">
              <a:latin typeface="Aptos" panose="020B0004020202020204" pitchFamily="34" charset="0"/>
            </a:endParaRPr>
          </a:p>
          <a:p>
            <a:r>
              <a:rPr b="1" dirty="0">
                <a:latin typeface="Aptos" panose="020B0004020202020204" pitchFamily="34" charset="0"/>
              </a:rPr>
              <a:t>Workforce Metrics: 50 Agents with an average age of 40.6 years.</a:t>
            </a:r>
          </a:p>
          <a:p>
            <a:r>
              <a:rPr b="1" dirty="0">
                <a:latin typeface="Aptos" panose="020B0004020202020204" pitchFamily="34" charset="0"/>
              </a:rPr>
              <a:t>Efficiency Leaders: Agents aged 29-33 maintain the highest Satisfaction Rate (4.23).</a:t>
            </a:r>
          </a:p>
          <a:p>
            <a:r>
              <a:rPr b="1" dirty="0">
                <a:latin typeface="Aptos" panose="020B0004020202020204" pitchFamily="34" charset="0"/>
              </a:rPr>
              <a:t>At-Risk Group: The 34-38 age bracket shows the highest resolution time (6.91 days).</a:t>
            </a:r>
          </a:p>
          <a:p>
            <a:r>
              <a:rPr b="1" dirty="0">
                <a:latin typeface="Aptos" panose="020B0004020202020204" pitchFamily="34" charset="0"/>
              </a:rPr>
              <a:t>Seniority Impact: Agents 45+ show higher emotional intelligence, maintaining stable satisfaction despite high complexity tasks.</a:t>
            </a:r>
            <a:endParaRPr lang="en-IN" b="1" dirty="0">
              <a:latin typeface="Aptos" panose="020B0004020202020204" pitchFamily="34" charset="0"/>
            </a:endParaRPr>
          </a:p>
          <a:p>
            <a:r>
              <a:rPr lang="en-IN" b="1" dirty="0">
                <a:latin typeface="Aptos" panose="020B0004020202020204" pitchFamily="34" charset="0"/>
              </a:rPr>
              <a:t>​</a:t>
            </a:r>
            <a:r>
              <a:rPr lang="en-IN" sz="1900" b="1" dirty="0">
                <a:latin typeface="Aptos" panose="020B0004020202020204" pitchFamily="34" charset="0"/>
              </a:rPr>
              <a:t>Workforce Profile: The average IT agent is 40.6 years old, suggesting a highly experienced team.</a:t>
            </a:r>
          </a:p>
          <a:p>
            <a:endParaRPr dirty="0">
              <a:latin typeface="Aptos" panose="020B0004020202020204" pitchFamily="34" charset="0"/>
            </a:endParaRPr>
          </a:p>
        </p:txBody>
      </p:sp>
      <p:pic>
        <p:nvPicPr>
          <p:cNvPr id="4100" name="Picture 4" descr="Agent Performance Stock Illustrations ...">
            <a:extLst>
              <a:ext uri="{FF2B5EF4-FFF2-40B4-BE49-F238E27FC236}">
                <a16:creationId xmlns:a16="http://schemas.microsoft.com/office/drawing/2014/main" id="{E66E523D-27B4-6F3B-CF71-567B7D3C60C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6471" b="90000" l="9428" r="93939">
                        <a14:foregroundMark x1="15825" y1="8824" x2="46128" y2="8235"/>
                        <a14:foregroundMark x1="46128" y1="8235" x2="90236" y2="8235"/>
                        <a14:foregroundMark x1="90236" y1="8235" x2="95286" y2="47059"/>
                        <a14:foregroundMark x1="95286" y1="47059" x2="90236" y2="87059"/>
                        <a14:foregroundMark x1="90236" y1="87059" x2="22896" y2="92941"/>
                        <a14:foregroundMark x1="22896" y1="92941" x2="8081" y2="76471"/>
                        <a14:foregroundMark x1="8081" y1="76471" x2="11111" y2="15882"/>
                        <a14:foregroundMark x1="11111" y1="15882" x2="19192" y2="8824"/>
                        <a14:foregroundMark x1="19865" y1="29412" x2="47475" y2="33529"/>
                        <a14:foregroundMark x1="47475" y1="33529" x2="35017" y2="55294"/>
                        <a14:foregroundMark x1="63300" y1="37647" x2="85185" y2="31765"/>
                        <a14:foregroundMark x1="85185" y1="31765" x2="59596" y2="58824"/>
                        <a14:foregroundMark x1="59596" y1="58824" x2="20202" y2="65882"/>
                        <a14:foregroundMark x1="76431" y1="22941" x2="57576" y2="55294"/>
                        <a14:foregroundMark x1="69360" y1="25294" x2="46465" y2="35882"/>
                        <a14:foregroundMark x1="46465" y1="35882" x2="46128" y2="35882"/>
                        <a14:foregroundMark x1="68013" y1="35294" x2="88215" y2="31765"/>
                        <a14:foregroundMark x1="88215" y1="31765" x2="89562" y2="66471"/>
                        <a14:foregroundMark x1="89562" y1="66471" x2="27946" y2="84118"/>
                        <a14:foregroundMark x1="27946" y1="84118" x2="16162" y2="52941"/>
                        <a14:foregroundMark x1="16162" y1="52941" x2="31987" y2="65882"/>
                        <a14:foregroundMark x1="31987" y1="65882" x2="87205" y2="51176"/>
                        <a14:foregroundMark x1="78451" y1="50588" x2="95286" y2="52353"/>
                        <a14:foregroundMark x1="95286" y1="52353" x2="93939" y2="16471"/>
                        <a14:foregroundMark x1="93939" y1="16471" x2="88215" y2="6471"/>
                      </a14:backgroundRemoval>
                    </a14:imgEffect>
                  </a14:imgLayer>
                </a14:imgProps>
              </a:ext>
              <a:ext uri="{28A0092B-C50C-407E-A947-70E740481C1C}">
                <a14:useLocalDpi xmlns:a14="http://schemas.microsoft.com/office/drawing/2010/main" val="0"/>
              </a:ext>
            </a:extLst>
          </a:blip>
          <a:srcRect l="10727" t="10381" r="8466" b="20010"/>
          <a:stretch>
            <a:fillRect/>
          </a:stretch>
        </p:blipFill>
        <p:spPr bwMode="auto">
          <a:xfrm>
            <a:off x="6716485" y="4764758"/>
            <a:ext cx="2286000" cy="128872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ABF23-A008-2A10-F591-75B990F2E4AF}"/>
              </a:ext>
            </a:extLst>
          </p:cNvPr>
          <p:cNvSpPr>
            <a:spLocks noGrp="1"/>
          </p:cNvSpPr>
          <p:nvPr>
            <p:ph type="title"/>
          </p:nvPr>
        </p:nvSpPr>
        <p:spPr>
          <a:xfrm>
            <a:off x="1193121" y="136285"/>
            <a:ext cx="6571343" cy="1801373"/>
          </a:xfrm>
        </p:spPr>
        <p:txBody>
          <a:bodyPr>
            <a:noAutofit/>
          </a:bodyPr>
          <a:lstStyle/>
          <a:p>
            <a:br>
              <a:rPr lang="en-IN" sz="1200" b="1" dirty="0">
                <a:latin typeface="Aptos" panose="020B0004020202020204" pitchFamily="34" charset="0"/>
              </a:rPr>
            </a:br>
            <a:r>
              <a:rPr lang="en-IN" sz="1200" b="1" dirty="0">
                <a:latin typeface="Aptos" panose="020B0004020202020204" pitchFamily="34" charset="0"/>
              </a:rPr>
              <a:t> Performance Tiers:</a:t>
            </a:r>
            <a:br>
              <a:rPr lang="en-IN" sz="1200" b="1" dirty="0">
                <a:latin typeface="Aptos" panose="020B0004020202020204" pitchFamily="34" charset="0"/>
              </a:rPr>
            </a:br>
            <a:r>
              <a:rPr lang="en-IN" sz="1200" b="1" dirty="0">
                <a:latin typeface="Aptos" panose="020B0004020202020204" pitchFamily="34" charset="0"/>
              </a:rPr>
              <a:t>​</a:t>
            </a:r>
            <a:r>
              <a:rPr lang="en-IN" sz="1200" b="1" dirty="0">
                <a:solidFill>
                  <a:schemeClr val="accent1"/>
                </a:solidFill>
                <a:latin typeface="Aptos" panose="020B0004020202020204" pitchFamily="34" charset="0"/>
              </a:rPr>
              <a:t>High Velocity (Ages 29-33): </a:t>
            </a:r>
            <a:r>
              <a:rPr lang="en-IN" sz="1200" b="1" dirty="0">
                <a:latin typeface="Aptos" panose="020B0004020202020204" pitchFamily="34" charset="0"/>
              </a:rPr>
              <a:t>Highest satisfaction (4.23). These are your "Operational Leaders.“</a:t>
            </a:r>
            <a:br>
              <a:rPr lang="en-IN" sz="1200" b="1" dirty="0">
                <a:latin typeface="Aptos" panose="020B0004020202020204" pitchFamily="34" charset="0"/>
              </a:rPr>
            </a:br>
            <a:br>
              <a:rPr lang="en-IN" sz="1200" b="1" dirty="0">
                <a:latin typeface="Aptos" panose="020B0004020202020204" pitchFamily="34" charset="0"/>
              </a:rPr>
            </a:br>
            <a:r>
              <a:rPr lang="en-IN" sz="1200" b="1" dirty="0">
                <a:solidFill>
                  <a:schemeClr val="accent1"/>
                </a:solidFill>
                <a:latin typeface="Aptos" panose="020B0004020202020204" pitchFamily="34" charset="0"/>
              </a:rPr>
              <a:t>​At-Risk (Ages 34-38): </a:t>
            </a:r>
            <a:r>
              <a:rPr lang="en-IN" sz="1200" b="1" dirty="0">
                <a:latin typeface="Aptos" panose="020B0004020202020204" pitchFamily="34" charset="0"/>
              </a:rPr>
              <a:t>Longest resolution times (6.9 days). This group is identified for technical upskilling.</a:t>
            </a:r>
            <a:br>
              <a:rPr lang="en-IN" sz="1200" b="1" dirty="0">
                <a:latin typeface="Aptos" panose="020B0004020202020204" pitchFamily="34" charset="0"/>
              </a:rPr>
            </a:br>
            <a:r>
              <a:rPr lang="en-IN" sz="1200" b="1" dirty="0">
                <a:latin typeface="Aptos" panose="020B0004020202020204" pitchFamily="34" charset="0"/>
              </a:rPr>
              <a:t>​Soft Skills: Agents aged 45+ maintain consistent satisfaction despite</a:t>
            </a:r>
            <a:br>
              <a:rPr lang="en-IN" sz="1200" b="1" dirty="0">
                <a:latin typeface="Aptos" panose="020B0004020202020204" pitchFamily="34" charset="0"/>
              </a:rPr>
            </a:br>
            <a:br>
              <a:rPr lang="en-IN" sz="1200" b="1" dirty="0">
                <a:latin typeface="Aptos" panose="020B0004020202020204" pitchFamily="34" charset="0"/>
              </a:rPr>
            </a:br>
            <a:r>
              <a:rPr lang="en-IN" sz="1200" b="1" dirty="0">
                <a:latin typeface="Aptos" panose="020B0004020202020204" pitchFamily="34" charset="0"/>
              </a:rPr>
              <a:t> handling older, complex legacy systems.</a:t>
            </a:r>
          </a:p>
        </p:txBody>
      </p:sp>
      <p:graphicFrame>
        <p:nvGraphicFramePr>
          <p:cNvPr id="4" name="Content Placeholder 3">
            <a:extLst>
              <a:ext uri="{FF2B5EF4-FFF2-40B4-BE49-F238E27FC236}">
                <a16:creationId xmlns:a16="http://schemas.microsoft.com/office/drawing/2014/main" id="{BCF9D1FD-6341-D736-740E-0A6CC63A0F2F}"/>
              </a:ext>
            </a:extLst>
          </p:cNvPr>
          <p:cNvGraphicFramePr>
            <a:graphicFrameLocks noGrp="1"/>
          </p:cNvGraphicFramePr>
          <p:nvPr>
            <p:ph idx="1"/>
            <p:extLst>
              <p:ext uri="{D42A27DB-BD31-4B8C-83A1-F6EECF244321}">
                <p14:modId xmlns:p14="http://schemas.microsoft.com/office/powerpoint/2010/main" val="1960683177"/>
              </p:ext>
            </p:extLst>
          </p:nvPr>
        </p:nvGraphicFramePr>
        <p:xfrm>
          <a:off x="269507" y="2093241"/>
          <a:ext cx="8509821" cy="38394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2888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34BA4-5967-5035-A32B-0C9300FB637F}"/>
              </a:ext>
            </a:extLst>
          </p:cNvPr>
          <p:cNvSpPr>
            <a:spLocks noGrp="1"/>
          </p:cNvSpPr>
          <p:nvPr>
            <p:ph type="title"/>
          </p:nvPr>
        </p:nvSpPr>
        <p:spPr>
          <a:xfrm>
            <a:off x="1286328" y="918279"/>
            <a:ext cx="6571343" cy="1276755"/>
          </a:xfrm>
        </p:spPr>
        <p:txBody>
          <a:bodyPr>
            <a:normAutofit fontScale="90000"/>
          </a:bodyPr>
          <a:lstStyle/>
          <a:p>
            <a:pPr algn="ctr"/>
            <a:r>
              <a:rPr lang="en-IN" dirty="0"/>
              <a:t>Sla Compliance &amp; tools effectiveness</a:t>
            </a:r>
            <a:br>
              <a:rPr lang="en-IN" u="sng" dirty="0"/>
            </a:br>
            <a:br>
              <a:rPr lang="en-IN" u="sng" dirty="0"/>
            </a:br>
            <a:br>
              <a:rPr lang="en-IN" u="sng" dirty="0"/>
            </a:br>
            <a:endParaRPr lang="en-IN" u="sng" dirty="0"/>
          </a:p>
        </p:txBody>
      </p:sp>
      <p:graphicFrame>
        <p:nvGraphicFramePr>
          <p:cNvPr id="8" name="Content Placeholder 3">
            <a:extLst>
              <a:ext uri="{FF2B5EF4-FFF2-40B4-BE49-F238E27FC236}">
                <a16:creationId xmlns:a16="http://schemas.microsoft.com/office/drawing/2014/main" id="{CE89E7D8-9A4B-E787-43D2-F2F53AC46EA3}"/>
              </a:ext>
            </a:extLst>
          </p:cNvPr>
          <p:cNvGraphicFramePr>
            <a:graphicFrameLocks noGrp="1"/>
          </p:cNvGraphicFramePr>
          <p:nvPr>
            <p:ph idx="1"/>
            <p:extLst>
              <p:ext uri="{D42A27DB-BD31-4B8C-83A1-F6EECF244321}">
                <p14:modId xmlns:p14="http://schemas.microsoft.com/office/powerpoint/2010/main" val="3044234569"/>
              </p:ext>
            </p:extLst>
          </p:nvPr>
        </p:nvGraphicFramePr>
        <p:xfrm>
          <a:off x="4572000" y="2525485"/>
          <a:ext cx="4433888" cy="307090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9AC9AFFD-04CA-0F8E-4CE6-458015397CED}"/>
              </a:ext>
            </a:extLst>
          </p:cNvPr>
          <p:cNvSpPr txBox="1"/>
          <p:nvPr/>
        </p:nvSpPr>
        <p:spPr>
          <a:xfrm>
            <a:off x="337458" y="2057400"/>
            <a:ext cx="3603172" cy="3693319"/>
          </a:xfrm>
          <a:prstGeom prst="rect">
            <a:avLst/>
          </a:prstGeom>
          <a:noFill/>
        </p:spPr>
        <p:txBody>
          <a:bodyPr wrap="square" rtlCol="0">
            <a:spAutoFit/>
          </a:bodyPr>
          <a:lstStyle/>
          <a:p>
            <a:pPr marL="285750" indent="-285750">
              <a:buFont typeface="Arial" panose="020B0604020202020204" pitchFamily="34" charset="0"/>
              <a:buChar char="•"/>
            </a:pPr>
            <a:r>
              <a:rPr lang="en-IN" dirty="0"/>
              <a:t>​Routing Accuracy: The current tool successfully prioritizes "Urgent" tickets, resolving them in ~2 days.</a:t>
            </a:r>
          </a:p>
          <a:p>
            <a:pPr marL="285750" indent="-285750">
              <a:buFont typeface="Arial" panose="020B0604020202020204" pitchFamily="34" charset="0"/>
              <a:buChar char="•"/>
            </a:pPr>
            <a:r>
              <a:rPr lang="en-IN" dirty="0"/>
              <a:t>​The Bottleneck: "Unassigned" tickets are the primary source of delay, staying in the queue for 5+ days before an agent is assigned.</a:t>
            </a:r>
          </a:p>
          <a:p>
            <a:pPr marL="285750" indent="-285750">
              <a:buFont typeface="Arial" panose="020B0604020202020204" pitchFamily="34" charset="0"/>
              <a:buChar char="•"/>
            </a:pPr>
            <a:r>
              <a:rPr lang="en-IN" dirty="0"/>
              <a:t>​Tooling Verdict: The existing software is a "Ranker" but not a "Router." It identifies what is important but does not efficiently assign it to available agents.</a:t>
            </a:r>
          </a:p>
        </p:txBody>
      </p:sp>
    </p:spTree>
    <p:extLst>
      <p:ext uri="{BB962C8B-B14F-4D97-AF65-F5344CB8AC3E}">
        <p14:creationId xmlns:p14="http://schemas.microsoft.com/office/powerpoint/2010/main" val="1556461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6607" y="1118045"/>
            <a:ext cx="6571343" cy="667212"/>
          </a:xfrm>
        </p:spPr>
        <p:txBody>
          <a:bodyPr/>
          <a:lstStyle/>
          <a:p>
            <a:r>
              <a:rPr dirty="0"/>
              <a:t>Strategic Recommendations</a:t>
            </a:r>
          </a:p>
        </p:txBody>
      </p:sp>
      <p:sp>
        <p:nvSpPr>
          <p:cNvPr id="3" name="Content Placeholder 2"/>
          <p:cNvSpPr>
            <a:spLocks noGrp="1"/>
          </p:cNvSpPr>
          <p:nvPr>
            <p:ph idx="1"/>
          </p:nvPr>
        </p:nvSpPr>
        <p:spPr>
          <a:xfrm>
            <a:off x="507319" y="2015733"/>
            <a:ext cx="6571343" cy="3450613"/>
          </a:xfrm>
        </p:spPr>
        <p:txBody>
          <a:bodyPr wrap="square">
            <a:normAutofit fontScale="77500" lnSpcReduction="20000"/>
          </a:bodyPr>
          <a:lstStyle/>
          <a:p>
            <a:endParaRPr dirty="0"/>
          </a:p>
          <a:p>
            <a:r>
              <a:rPr dirty="0"/>
              <a:t>1. Resource Expansion: Hire additional staff to lower the 1,950 tickets-per-agent ratio.</a:t>
            </a:r>
          </a:p>
          <a:p>
            <a:r>
              <a:rPr dirty="0"/>
              <a:t>2. Automation: Implement Self-Service for 'Login Access' to automate 30% of total volume.</a:t>
            </a:r>
          </a:p>
          <a:p>
            <a:r>
              <a:rPr dirty="0"/>
              <a:t>3. Tooling Upgrade: Invest in AI-driven triaging to reduce 'Unassigned' ticket lag.</a:t>
            </a:r>
          </a:p>
          <a:p>
            <a:r>
              <a:rPr dirty="0"/>
              <a:t>4. Training: Conduct technical workshops for mid-tier age groups to improve MTTR.</a:t>
            </a:r>
          </a:p>
          <a:p>
            <a:r>
              <a:rPr dirty="0"/>
              <a:t>Conclusion: Transitioning from manual resets to automated workflows is critical for 2021 scalability.</a:t>
            </a:r>
          </a:p>
        </p:txBody>
      </p:sp>
      <p:pic>
        <p:nvPicPr>
          <p:cNvPr id="2052" name="Picture 4" descr="13,924 Recommendation Logo Royalty-Free Images, Stock Photos ...">
            <a:extLst>
              <a:ext uri="{FF2B5EF4-FFF2-40B4-BE49-F238E27FC236}">
                <a16:creationId xmlns:a16="http://schemas.microsoft.com/office/drawing/2014/main" id="{B7075E79-A183-22EE-AA7D-F2A9A692B18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286" b="90000" l="10000" r="90000">
                        <a14:foregroundMark x1="40385" y1="9286" x2="57692" y2="9286"/>
                      </a14:backgroundRemoval>
                    </a14:imgEffect>
                  </a14:imgLayer>
                </a14:imgProps>
              </a:ext>
              <a:ext uri="{28A0092B-C50C-407E-A947-70E740481C1C}">
                <a14:useLocalDpi xmlns:a14="http://schemas.microsoft.com/office/drawing/2010/main" val="0"/>
              </a:ext>
            </a:extLst>
          </a:blip>
          <a:srcRect/>
          <a:stretch>
            <a:fillRect/>
          </a:stretch>
        </p:blipFill>
        <p:spPr bwMode="auto">
          <a:xfrm>
            <a:off x="0" y="626933"/>
            <a:ext cx="1578807" cy="15294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BE16-EB8B-E678-ECF9-0215A06D60CA}"/>
              </a:ext>
            </a:extLst>
          </p:cNvPr>
          <p:cNvSpPr>
            <a:spLocks noGrp="1"/>
          </p:cNvSpPr>
          <p:nvPr>
            <p:ph type="title"/>
          </p:nvPr>
        </p:nvSpPr>
        <p:spPr>
          <a:xfrm>
            <a:off x="1127805" y="91399"/>
            <a:ext cx="6571343" cy="1049235"/>
          </a:xfrm>
        </p:spPr>
        <p:txBody>
          <a:bodyPr/>
          <a:lstStyle/>
          <a:p>
            <a:pPr algn="ctr"/>
            <a:r>
              <a:rPr lang="en-IN" b="1" u="sng" dirty="0">
                <a:solidFill>
                  <a:srgbClr val="8BB3F5"/>
                </a:solidFill>
                <a:latin typeface="Aptos Display" panose="020B0004020202020204" pitchFamily="34" charset="0"/>
                <a:ea typeface="Cascadia Code SemiBold" panose="020B0609020000020004" pitchFamily="49" charset="0"/>
                <a:cs typeface="Cascadia Code SemiBold" panose="020B0609020000020004" pitchFamily="49" charset="0"/>
              </a:rPr>
              <a:t>Dashboard</a:t>
            </a:r>
          </a:p>
        </p:txBody>
      </p:sp>
      <p:pic>
        <p:nvPicPr>
          <p:cNvPr id="9" name="Content Placeholder 8">
            <a:extLst>
              <a:ext uri="{FF2B5EF4-FFF2-40B4-BE49-F238E27FC236}">
                <a16:creationId xmlns:a16="http://schemas.microsoft.com/office/drawing/2014/main" id="{18D417E5-99DA-04C8-77D8-78CC366C0126}"/>
              </a:ext>
            </a:extLst>
          </p:cNvPr>
          <p:cNvPicPr>
            <a:picLocks noGrp="1" noChangeAspect="1"/>
          </p:cNvPicPr>
          <p:nvPr>
            <p:ph idx="1"/>
          </p:nvPr>
        </p:nvPicPr>
        <p:blipFill>
          <a:blip r:embed="rId2"/>
          <a:stretch>
            <a:fillRect/>
          </a:stretch>
        </p:blipFill>
        <p:spPr>
          <a:xfrm>
            <a:off x="38502" y="616017"/>
            <a:ext cx="9038122" cy="5457524"/>
          </a:xfrm>
          <a:prstGeom prst="rect">
            <a:avLst/>
          </a:prstGeom>
        </p:spPr>
      </p:pic>
    </p:spTree>
    <p:extLst>
      <p:ext uri="{BB962C8B-B14F-4D97-AF65-F5344CB8AC3E}">
        <p14:creationId xmlns:p14="http://schemas.microsoft.com/office/powerpoint/2010/main" val="305749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5000">
              <a:schemeClr val="bg2">
                <a:tint val="94000"/>
                <a:satMod val="80000"/>
                <a:lumMod val="106000"/>
                <a:alpha val="99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BDF4-E608-8EB8-77FA-04ED10E6ED69}"/>
              </a:ext>
            </a:extLst>
          </p:cNvPr>
          <p:cNvSpPr>
            <a:spLocks noGrp="1"/>
          </p:cNvSpPr>
          <p:nvPr>
            <p:ph type="title"/>
          </p:nvPr>
        </p:nvSpPr>
        <p:spPr>
          <a:xfrm>
            <a:off x="1513113" y="816429"/>
            <a:ext cx="6501721" cy="4191000"/>
          </a:xfrm>
        </p:spPr>
        <p:txBody>
          <a:bodyPr>
            <a:noAutofit/>
          </a:bodyPr>
          <a:lstStyle/>
          <a:p>
            <a:br>
              <a:rPr lang="en-IN" sz="1800" dirty="0"/>
            </a:br>
            <a:r>
              <a:rPr lang="en-IN" sz="1800" dirty="0"/>
              <a:t>                  </a:t>
            </a:r>
            <a:br>
              <a:rPr lang="en-IN" sz="1800" dirty="0"/>
            </a:br>
            <a:r>
              <a:rPr lang="en-IN" sz="1800" dirty="0"/>
              <a:t>                  </a:t>
            </a:r>
            <a:r>
              <a:rPr lang="en-IN" sz="4000" dirty="0">
                <a:latin typeface="Aptos" panose="020B0004020202020204" pitchFamily="34" charset="0"/>
              </a:rPr>
              <a:t>Conclusion</a:t>
            </a:r>
            <a:br>
              <a:rPr lang="en-IN" sz="1800" dirty="0"/>
            </a:br>
            <a:br>
              <a:rPr lang="en-IN" sz="1800" dirty="0"/>
            </a:br>
            <a:br>
              <a:rPr lang="en-IN" sz="1800" b="1" dirty="0">
                <a:latin typeface="Aptos" panose="020B0004020202020204" pitchFamily="34" charset="0"/>
              </a:rPr>
            </a:br>
            <a:r>
              <a:rPr lang="en-IN" sz="1600" b="1" dirty="0">
                <a:latin typeface="Aptos" panose="020B0004020202020204" pitchFamily="34" charset="0"/>
              </a:rPr>
              <a:t>Current State: The IT team is high-performing but physically overwhelmed by the 123% volume growth.</a:t>
            </a:r>
            <a:br>
              <a:rPr lang="en-IN" sz="1600" b="1" dirty="0">
                <a:latin typeface="Aptos" panose="020B0004020202020204" pitchFamily="34" charset="0"/>
              </a:rPr>
            </a:br>
            <a:br>
              <a:rPr lang="en-IN" sz="1600" b="1" dirty="0">
                <a:latin typeface="Aptos" panose="020B0004020202020204" pitchFamily="34" charset="0"/>
              </a:rPr>
            </a:br>
            <a:r>
              <a:rPr lang="en-IN" sz="1600" b="1" dirty="0">
                <a:latin typeface="Aptos" panose="020B0004020202020204" pitchFamily="34" charset="0"/>
              </a:rPr>
              <a:t>Immediate ROI: Automation of low-complexity tasks provides the fastest path to MTTR (Mean Time to Resolve) reduction.</a:t>
            </a:r>
            <a:br>
              <a:rPr lang="en-IN" sz="1600" b="1" dirty="0">
                <a:latin typeface="Aptos" panose="020B0004020202020204" pitchFamily="34" charset="0"/>
              </a:rPr>
            </a:br>
            <a:br>
              <a:rPr lang="en-IN" sz="1600" b="1" dirty="0">
                <a:latin typeface="Aptos" panose="020B0004020202020204" pitchFamily="34" charset="0"/>
              </a:rPr>
            </a:br>
            <a:r>
              <a:rPr lang="en-IN" sz="1600" b="1" dirty="0">
                <a:latin typeface="Aptos" panose="020B0004020202020204" pitchFamily="34" charset="0"/>
              </a:rPr>
              <a:t>Final Vision: Transform IT from a "Support Queue" into a "Strategic Asset" by leveraging automation to allow human experts to focus on technical innovation.</a:t>
            </a:r>
            <a:br>
              <a:rPr lang="en-IN" sz="1600" b="1" dirty="0">
                <a:latin typeface="Aptos" panose="020B0004020202020204" pitchFamily="34" charset="0"/>
              </a:rPr>
            </a:br>
            <a:endParaRPr lang="en-IN" sz="1600" b="1" dirty="0">
              <a:latin typeface="Aptos" panose="020B0004020202020204" pitchFamily="34" charset="0"/>
            </a:endParaRPr>
          </a:p>
        </p:txBody>
      </p:sp>
      <p:pic>
        <p:nvPicPr>
          <p:cNvPr id="7170" name="Picture 2" descr="Handshake/negotiation conclusion icon">
            <a:extLst>
              <a:ext uri="{FF2B5EF4-FFF2-40B4-BE49-F238E27FC236}">
                <a16:creationId xmlns:a16="http://schemas.microsoft.com/office/drawing/2014/main" id="{C8F38C09-2612-EDD8-AE77-795DE8CC90B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591856" y="4542064"/>
            <a:ext cx="3552144"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712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1553</TotalTime>
  <Words>987</Words>
  <Application>Microsoft Office PowerPoint</Application>
  <PresentationFormat>On-screen Show (4:3)</PresentationFormat>
  <Paragraphs>77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Gill Sans MT</vt:lpstr>
      <vt:lpstr>Gallery</vt:lpstr>
      <vt:lpstr>      IT Support Ticket Performance Analysis</vt:lpstr>
      <vt:lpstr>Introduction and Objectives</vt:lpstr>
      <vt:lpstr> Data Overview</vt:lpstr>
      <vt:lpstr>Methodology</vt:lpstr>
      <vt:lpstr>Ticket Volume &amp; Growth Trends</vt:lpstr>
      <vt:lpstr>As seen in the line chart, we are facing a 'Scaling Challenge.' Ticket volume has more than doubled since 2016.  Theoretically, this is known as Demand Volatility. The spikes in October and December suggest that our current fixed headcount is being overwhelmed during peak seasons, leading to a backlog that carries over into the new year."</vt:lpstr>
      <vt:lpstr>Category &amp; Complexity Analysis</vt:lpstr>
      <vt:lpstr>This bar chart reveals a massive 'Complexity Gap.' While Login Access tickets are resolved in less than half a day, Hardware and System issues take 6 to 7 days. This is an application of the Pareto Principle: 70% of our volume comes from System and Login issues. By automating the simple Login resets, we can redirect our expert man-hours toward the high-complexity Hardware tasks."</vt:lpstr>
      <vt:lpstr>Agent Performance &amp; Demographics</vt:lpstr>
      <vt:lpstr>  Performance Tiers: ​High Velocity (Ages 29-33): Highest satisfaction (4.23). These are your "Operational Leaders.“  ​At-Risk (Ages 34-38): Longest resolution times (6.9 days). This group is identified for technical upskilling. ​Soft Skills: Agents aged 45+ maintain consistent satisfaction despite   handling older, complex legacy systems.</vt:lpstr>
      <vt:lpstr>Sla Compliance &amp; tools effectiveness   </vt:lpstr>
      <vt:lpstr>Strategic Recommendations</vt:lpstr>
      <vt:lpstr>Dashboard</vt:lpstr>
      <vt:lpstr>                                      Conclusion   Current State: The IT team is high-performing but physically overwhelmed by the 123% volume growth.  Immediate ROI: Automation of low-complexity tasks provides the fastest path to MTTR (Mean Time to Resolve) reduction.  Final Vision: Transform IT from a "Support Queue" into a "Strategic Asset" by leveraging automation to allow human experts to focus on technical innovation.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Ravikant Singh</dc:creator>
  <cp:keywords/>
  <dc:description>generated using python-pptx</dc:description>
  <cp:lastModifiedBy>Ravikant Singh</cp:lastModifiedBy>
  <cp:revision>5</cp:revision>
  <dcterms:created xsi:type="dcterms:W3CDTF">2013-01-27T09:14:16Z</dcterms:created>
  <dcterms:modified xsi:type="dcterms:W3CDTF">2026-06-20T06:33:35Z</dcterms:modified>
  <cp:category/>
</cp:coreProperties>
</file>